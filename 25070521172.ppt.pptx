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53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Prim's Algorithm as a greedy graph algorithm used to find a minimum spanning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minimum spanning tree connects all vertices without cycles and minimizes the sum of edge weights. Think of low-cost cables connecting buildings.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greedy strategy: start anywhere, inspect edges leaving the current tree, choose the lightest edge that reaches a new vertex, and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six-vertex weighted graph. The graph is undirected and connected; we start at A. Edge labels are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Starting at A, compare A-B with weight 2 and A-C with weight 3. Choose A-B because it is cheaper. The current tree contains A and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From the current tree, choose B-C with weight 1, then B-D with weight 4. Next D-E with weight 2, then E-F with weight 1. Do not choose edges that connect only vertices already in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final MST uses A-B, B-C, B-D, D-E and E-F. The total is 2+1+4+2+1=10. There are six vertices and five selected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pseudocode. key[v] stores the cheapest edge currently known for bringing v into the tree; parent[v] records the selected connection. A min-priority queue efficiently finds the next vertex.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 an adjacency list and binary min-priority queue, the typical time complexity is O(E log V). With an adjacency matrix and simple array it can be O(V squared).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the greedy choice, connected tree, cycle avoidance, V minus 1 edges, and minimum total weight. End by stating that Prim's is useful when building a low-cost connected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235440" y="1280160"/>
            <a:ext cx="914400" cy="914400"/>
          </a:xfrm>
          <a:prstGeom prst="ellipse">
            <a:avLst/>
          </a:prstGeom>
          <a:solidFill>
            <a:srgbClr val="1B2B48"/>
          </a:solidFill>
          <a:ln w="2540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552176" y="2596896"/>
            <a:ext cx="658368" cy="658368"/>
          </a:xfrm>
          <a:prstGeom prst="ellipse">
            <a:avLst/>
          </a:prstGeom>
          <a:solidFill>
            <a:srgbClr val="1B2B48"/>
          </a:solidFill>
          <a:ln w="25400">
            <a:solidFill>
              <a:srgbClr val="53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67928" y="3447287"/>
            <a:ext cx="603504" cy="603504"/>
          </a:xfrm>
          <a:prstGeom prst="ellipse">
            <a:avLst/>
          </a:prstGeom>
          <a:solidFill>
            <a:srgbClr val="1B2B48"/>
          </a:solidFill>
          <a:ln w="25400">
            <a:solidFill>
              <a:srgbClr val="FF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21824" y="4443983"/>
            <a:ext cx="438912" cy="438912"/>
          </a:xfrm>
          <a:prstGeom prst="ellipse">
            <a:avLst/>
          </a:prstGeom>
          <a:solidFill>
            <a:srgbClr val="1B2B48"/>
          </a:solidFill>
          <a:ln w="2540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46136" y="2459736"/>
            <a:ext cx="384048" cy="384048"/>
          </a:xfrm>
          <a:prstGeom prst="ellipse">
            <a:avLst/>
          </a:prstGeom>
          <a:solidFill>
            <a:srgbClr val="1B2B48"/>
          </a:solidFill>
          <a:ln w="25400">
            <a:solidFill>
              <a:srgbClr val="53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9692640" y="1737360"/>
            <a:ext cx="1188720" cy="118872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138160" y="1737360"/>
            <a:ext cx="1554480" cy="91440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38160" y="2651760"/>
            <a:ext cx="731520" cy="1097279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3749039"/>
            <a:ext cx="1371600" cy="914401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0241280" y="2926080"/>
            <a:ext cx="640080" cy="173736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1DCC4"/>
                </a:solidFill>
                <a:latin typeface="Aptos"/>
              </a:rPr>
              <a:t>DESIGN &amp; ANALYSIS OF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417320"/>
            <a:ext cx="6492240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5F8FF"/>
                </a:solidFill>
                <a:latin typeface="Aptos"/>
              </a:rPr>
              <a:t>PRIM'S
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246120"/>
            <a:ext cx="59436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AEBCD3"/>
                </a:solidFill>
                <a:latin typeface="Aptos"/>
              </a:rPr>
              <a:t>Building a minimum spanning tree,
one edge at a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4709160"/>
            <a:ext cx="3840480" cy="566928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 w="1524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828032"/>
            <a:ext cx="3566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1DCC4"/>
                </a:solidFill>
                <a:latin typeface="Aptos"/>
              </a:rPr>
              <a:t>GREEDY • GRAPH •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6035040"/>
            <a:ext cx="36576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lang="en-IN" sz="1000" b="1" dirty="0">
                <a:solidFill>
                  <a:srgbClr val="AEBCD3"/>
                </a:solidFill>
                <a:latin typeface="Aptos"/>
              </a:rPr>
              <a:t>PRANJAL HEDAU / PRN: 25070521172 </a:t>
            </a:r>
            <a:r>
              <a:rPr sz="1000" b="1" i="0" dirty="0">
                <a:solidFill>
                  <a:srgbClr val="AEBCD3"/>
                </a:solidFill>
                <a:latin typeface="Aptos"/>
              </a:rPr>
              <a:t>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01 /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The problem: connect every vertex at minimum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257800" cy="438912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47088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1DCC4"/>
                </a:solidFill>
                <a:latin typeface="Aptos"/>
              </a:rPr>
              <a:t>Imagine connecting campus buildings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87168"/>
            <a:ext cx="4572000" cy="25603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Each building is a vertex.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Each possible cable is an edge.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The edge weight is the installation cost.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Every building must be reachable.</a:t>
            </a:r>
          </a:p>
          <a:p>
            <a:pPr>
              <a:spcAft>
                <a:spcPts val="12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• The total cost should be as small as 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72768"/>
            <a:ext cx="5230368" cy="438912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1847088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1DCC4"/>
                </a:solidFill>
                <a:latin typeface="Aptos"/>
              </a:rPr>
              <a:t>A Minimum Spanning Tree (MST)</a:t>
            </a:r>
          </a:p>
        </p:txBody>
      </p:sp>
      <p:sp>
        <p:nvSpPr>
          <p:cNvPr id="12" name="Oval 11"/>
          <p:cNvSpPr/>
          <p:nvPr/>
        </p:nvSpPr>
        <p:spPr>
          <a:xfrm>
            <a:off x="6565392" y="2633472"/>
            <a:ext cx="91440" cy="91440"/>
          </a:xfrm>
          <a:prstGeom prst="ellipse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59" y="2514600"/>
            <a:ext cx="418795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5F8FF"/>
                </a:solidFill>
                <a:latin typeface="Aptos"/>
              </a:rPr>
              <a:t>Spans: connects all vertices.</a:t>
            </a:r>
          </a:p>
        </p:txBody>
      </p:sp>
      <p:sp>
        <p:nvSpPr>
          <p:cNvPr id="14" name="Oval 13"/>
          <p:cNvSpPr/>
          <p:nvPr/>
        </p:nvSpPr>
        <p:spPr>
          <a:xfrm>
            <a:off x="6565392" y="3364991"/>
            <a:ext cx="91440" cy="91440"/>
          </a:xfrm>
          <a:prstGeom prst="ellipse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59" y="3246120"/>
            <a:ext cx="418795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5F8FF"/>
                </a:solidFill>
                <a:latin typeface="Aptos"/>
              </a:rPr>
              <a:t>Tree: contains no cycles.</a:t>
            </a:r>
          </a:p>
        </p:txBody>
      </p:sp>
      <p:sp>
        <p:nvSpPr>
          <p:cNvPr id="16" name="Oval 15"/>
          <p:cNvSpPr/>
          <p:nvPr/>
        </p:nvSpPr>
        <p:spPr>
          <a:xfrm>
            <a:off x="6565392" y="4096511"/>
            <a:ext cx="91440" cy="91440"/>
          </a:xfrm>
          <a:prstGeom prst="ellipse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59" y="3977639"/>
            <a:ext cx="418795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5F8FF"/>
                </a:solidFill>
                <a:latin typeface="Aptos"/>
              </a:rPr>
              <a:t>Minimum: has the lowest total edge weight.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4919472"/>
            <a:ext cx="4297680" cy="59436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 w="1524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11696" y="5056632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CA57"/>
                </a:solidFill>
                <a:latin typeface="Aptos"/>
              </a:rPr>
              <a:t>Goal: connect all nodes cheaply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02 / GREEDY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Prim's algorithm: grow one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4663440" cy="452628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1837943"/>
            <a:ext cx="438912" cy="438912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74519"/>
            <a:ext cx="3383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1DCC4"/>
                </a:solidFill>
                <a:latin typeface="Aptos"/>
              </a:rP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94560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Choose any vertex.</a:t>
            </a:r>
          </a:p>
        </p:txBody>
      </p:sp>
      <p:sp>
        <p:nvSpPr>
          <p:cNvPr id="11" name="Oval 10"/>
          <p:cNvSpPr/>
          <p:nvPr/>
        </p:nvSpPr>
        <p:spPr>
          <a:xfrm>
            <a:off x="859536" y="2825496"/>
            <a:ext cx="438912" cy="438912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862072"/>
            <a:ext cx="3383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1DCC4"/>
                </a:solidFill>
                <a:latin typeface="Aptos"/>
              </a:rP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182112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Look at edges leaving the current tree.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" y="3813048"/>
            <a:ext cx="438912" cy="438912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849624"/>
            <a:ext cx="3383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1DCC4"/>
                </a:solidFill>
                <a:latin typeface="Aptos"/>
              </a:rPr>
              <a:t>Choose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169663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Add the lowest-weight edge that reaches a new vertex.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" y="4800600"/>
            <a:ext cx="438912" cy="438912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837176"/>
            <a:ext cx="33832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1DCC4"/>
                </a:solidFill>
                <a:latin typeface="Aptos"/>
              </a:rPr>
              <a:t>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157216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Stop when every vertex is included.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1600200"/>
            <a:ext cx="5806440" cy="452628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1874519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F8FF"/>
                </a:solidFill>
                <a:latin typeface="Aptos"/>
              </a:rPr>
              <a:t>The greedy choice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675120" y="2606040"/>
            <a:ext cx="1554480" cy="365760"/>
          </a:xfrm>
          <a:prstGeom prst="line">
            <a:avLst/>
          </a:prstGeom>
          <a:ln w="3810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7768" y="247802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7768" y="248716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0" y="2606040"/>
            <a:ext cx="1463040" cy="640080"/>
          </a:xfrm>
          <a:prstGeom prst="line">
            <a:avLst/>
          </a:prstGeom>
          <a:ln w="3810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96528" y="26151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96528" y="26243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0" y="2606040"/>
            <a:ext cx="182880" cy="2148840"/>
          </a:xfrm>
          <a:prstGeom prst="line">
            <a:avLst/>
          </a:prstGeom>
          <a:ln w="31750">
            <a:solidFill>
              <a:srgbClr val="FFC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955279" y="355244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79" y="356158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4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8412480" y="3246120"/>
            <a:ext cx="1280160" cy="150876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070847" y="38724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0847" y="38816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92640" y="3246120"/>
            <a:ext cx="594360" cy="150876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08108" y="38724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08108" y="38816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2480" y="4754880"/>
            <a:ext cx="1874520" cy="0"/>
          </a:xfrm>
          <a:prstGeom prst="line">
            <a:avLst/>
          </a:prstGeom>
          <a:ln w="1651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185148" y="44439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85148" y="44531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sp>
        <p:nvSpPr>
          <p:cNvPr id="40" name="Oval 39"/>
          <p:cNvSpPr/>
          <p:nvPr/>
        </p:nvSpPr>
        <p:spPr>
          <a:xfrm>
            <a:off x="6455664" y="2752344"/>
            <a:ext cx="438912" cy="438912"/>
          </a:xfrm>
          <a:prstGeom prst="ellipse">
            <a:avLst/>
          </a:prstGeom>
          <a:solidFill>
            <a:srgbClr val="141F3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41" name="Oval 40"/>
          <p:cNvSpPr/>
          <p:nvPr/>
        </p:nvSpPr>
        <p:spPr>
          <a:xfrm>
            <a:off x="8010144" y="2386584"/>
            <a:ext cx="438912" cy="438912"/>
          </a:xfrm>
          <a:prstGeom prst="ellipse">
            <a:avLst/>
          </a:prstGeom>
          <a:solidFill>
            <a:srgbClr val="141F3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42" name="Oval 41"/>
          <p:cNvSpPr/>
          <p:nvPr/>
        </p:nvSpPr>
        <p:spPr>
          <a:xfrm>
            <a:off x="9473184" y="3026663"/>
            <a:ext cx="438912" cy="438912"/>
          </a:xfrm>
          <a:prstGeom prst="ellipse">
            <a:avLst/>
          </a:prstGeom>
          <a:solidFill>
            <a:srgbClr val="141F3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43" name="Oval 42"/>
          <p:cNvSpPr/>
          <p:nvPr/>
        </p:nvSpPr>
        <p:spPr>
          <a:xfrm>
            <a:off x="8193023" y="4535424"/>
            <a:ext cx="438912" cy="438912"/>
          </a:xfrm>
          <a:prstGeom prst="ellipse">
            <a:avLst/>
          </a:prstGeom>
          <a:solidFill>
            <a:srgbClr val="0B1224"/>
          </a:solidFill>
          <a:ln w="21590">
            <a:solidFill>
              <a:srgbClr val="AEB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44" name="Oval 43"/>
          <p:cNvSpPr/>
          <p:nvPr/>
        </p:nvSpPr>
        <p:spPr>
          <a:xfrm>
            <a:off x="10067544" y="4535424"/>
            <a:ext cx="438912" cy="438912"/>
          </a:xfrm>
          <a:prstGeom prst="ellipse">
            <a:avLst/>
          </a:prstGeom>
          <a:solidFill>
            <a:srgbClr val="0B1224"/>
          </a:solidFill>
          <a:ln w="21590">
            <a:solidFill>
              <a:srgbClr val="AEB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5440680"/>
            <a:ext cx="51206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CA57"/>
                </a:solidFill>
                <a:latin typeface="Aptos"/>
              </a:rPr>
              <a:t>Pick the cheapest edge crossing out of the tree.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03 / FOLLOW THE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Example graph: six vertices, weighted edges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7315200" cy="452628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2331720"/>
            <a:ext cx="2011680" cy="41148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70048" y="222656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0048" y="223570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743200"/>
            <a:ext cx="4023360" cy="22860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75888" y="25008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75888" y="25100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2331720"/>
            <a:ext cx="2011680" cy="64008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81728" y="2322575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81728" y="2331720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2331720"/>
            <a:ext cx="45720" cy="210312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34156" y="325526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34156" y="326440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886200" y="2971800"/>
            <a:ext cx="1965960" cy="146304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69180" y="357530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9180" y="358444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" y="2971800"/>
            <a:ext cx="548640" cy="178308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44768" y="373532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44768" y="374446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4434840"/>
            <a:ext cx="2514600" cy="32004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78908" y="4265676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78908" y="4274820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886200" y="3611880"/>
            <a:ext cx="3429000" cy="82296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00700" y="389534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00700" y="390448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400800" y="3611880"/>
            <a:ext cx="914400" cy="1143000"/>
          </a:xfrm>
          <a:prstGeom prst="line">
            <a:avLst/>
          </a:prstGeom>
          <a:ln w="1778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0" y="405536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406450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1577340" y="249174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53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3589020" y="208026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53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5600700" y="272034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53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38" name="Oval 37"/>
          <p:cNvSpPr/>
          <p:nvPr/>
        </p:nvSpPr>
        <p:spPr>
          <a:xfrm>
            <a:off x="3634740" y="4183379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53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6149340" y="450342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53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E</a:t>
            </a:r>
          </a:p>
        </p:txBody>
      </p:sp>
      <p:sp>
        <p:nvSpPr>
          <p:cNvPr id="40" name="Oval 39"/>
          <p:cNvSpPr/>
          <p:nvPr/>
        </p:nvSpPr>
        <p:spPr>
          <a:xfrm>
            <a:off x="7063740" y="336042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53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75320" y="1572768"/>
            <a:ext cx="3200400" cy="452628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49640" y="1874519"/>
            <a:ext cx="2651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1DCC4"/>
                </a:solidFill>
                <a:latin typeface="Aptos"/>
              </a:rPr>
              <a:t>What we know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2423160"/>
            <a:ext cx="2560320" cy="24688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Undirected, connected graph</a:t>
            </a:r>
          </a:p>
          <a:p>
            <a:pPr>
              <a:spcAft>
                <a:spcPts val="14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Numbers are edge weights</a:t>
            </a:r>
          </a:p>
          <a:p>
            <a:pPr>
              <a:spcAft>
                <a:spcPts val="14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Start at vertex A</a:t>
            </a:r>
          </a:p>
          <a:p>
            <a:pPr>
              <a:spcAft>
                <a:spcPts val="14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• Each step adds one new vertex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49640" y="5074920"/>
            <a:ext cx="2606040" cy="59436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 w="1524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68512" y="5212080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CA57"/>
                </a:solidFill>
                <a:latin typeface="Aptos"/>
              </a:rPr>
              <a:t>Target: 5 MST edges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04 / MST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Walkthrough, part 1: start at 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6583680" cy="452628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2331720"/>
            <a:ext cx="1965960" cy="548640"/>
          </a:xfrm>
          <a:prstGeom prst="line">
            <a:avLst/>
          </a:prstGeom>
          <a:ln w="3810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47188" y="229514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47188" y="2304287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880360"/>
            <a:ext cx="3840480" cy="4572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84447" y="2574035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4447" y="2583179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2331720"/>
            <a:ext cx="1874520" cy="59436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67428" y="231800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7428" y="232714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94760" y="2331720"/>
            <a:ext cx="45720" cy="224028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88436" y="332384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88436" y="333298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840480" y="2926080"/>
            <a:ext cx="1828800" cy="164592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54880" y="362102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363016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2926080"/>
            <a:ext cx="731520" cy="164592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35040" y="362102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363016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" y="4572000"/>
            <a:ext cx="2560320" cy="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56048" y="426110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56048" y="427024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840480" y="3657600"/>
            <a:ext cx="2697480" cy="91440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89220" y="39867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89220" y="39959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400800" y="3657600"/>
            <a:ext cx="137160" cy="91440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69380" y="39867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9380" y="39959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1591056" y="2642615"/>
            <a:ext cx="475488" cy="475488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3557016" y="2093976"/>
            <a:ext cx="475488" cy="475488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5431536" y="2688336"/>
            <a:ext cx="475488" cy="475488"/>
          </a:xfrm>
          <a:prstGeom prst="ellipse">
            <a:avLst/>
          </a:prstGeom>
          <a:solidFill>
            <a:srgbClr val="0B1224"/>
          </a:solidFill>
          <a:ln w="21590">
            <a:solidFill>
              <a:srgbClr val="AEB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38" name="Oval 37"/>
          <p:cNvSpPr/>
          <p:nvPr/>
        </p:nvSpPr>
        <p:spPr>
          <a:xfrm>
            <a:off x="3602736" y="4334256"/>
            <a:ext cx="475488" cy="475488"/>
          </a:xfrm>
          <a:prstGeom prst="ellipse">
            <a:avLst/>
          </a:prstGeom>
          <a:solidFill>
            <a:srgbClr val="0B1224"/>
          </a:solidFill>
          <a:ln w="21590">
            <a:solidFill>
              <a:srgbClr val="AEB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6163056" y="4334256"/>
            <a:ext cx="475488" cy="475488"/>
          </a:xfrm>
          <a:prstGeom prst="ellipse">
            <a:avLst/>
          </a:prstGeom>
          <a:solidFill>
            <a:srgbClr val="0B1224"/>
          </a:solidFill>
          <a:ln w="21590">
            <a:solidFill>
              <a:srgbClr val="AEB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E</a:t>
            </a:r>
          </a:p>
        </p:txBody>
      </p:sp>
      <p:sp>
        <p:nvSpPr>
          <p:cNvPr id="40" name="Oval 39"/>
          <p:cNvSpPr/>
          <p:nvPr/>
        </p:nvSpPr>
        <p:spPr>
          <a:xfrm>
            <a:off x="6300216" y="3419856"/>
            <a:ext cx="475488" cy="475488"/>
          </a:xfrm>
          <a:prstGeom prst="ellipse">
            <a:avLst/>
          </a:prstGeom>
          <a:solidFill>
            <a:srgbClr val="0B1224"/>
          </a:solidFill>
          <a:ln w="21590">
            <a:solidFill>
              <a:srgbClr val="AEB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1572768"/>
            <a:ext cx="3931920" cy="452628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1901952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1DCC4"/>
                </a:solidFill>
                <a:latin typeface="Aptos"/>
              </a:rPr>
              <a:t>Step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2212848"/>
            <a:ext cx="31089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5F8FF"/>
                </a:solidFill>
                <a:latin typeface="Aptos"/>
              </a:rPr>
              <a:t>Start with 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2907792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1DCC4"/>
                </a:solidFill>
                <a:latin typeface="Aptos"/>
              </a:rPr>
              <a:t>Step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3227832"/>
            <a:ext cx="31089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5F8FF"/>
                </a:solidFill>
                <a:latin typeface="Aptos"/>
              </a:rPr>
              <a:t>Available edges: A–B = 2 and A–C = 3.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4389120"/>
            <a:ext cx="3246120" cy="82296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 w="1524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28431" y="4553712"/>
            <a:ext cx="2926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CA57"/>
                </a:solidFill>
                <a:latin typeface="Aptos"/>
              </a:rPr>
              <a:t>Choose A–B (weight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48640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CD3"/>
                </a:solidFill>
                <a:latin typeface="Aptos"/>
              </a:rPr>
              <a:t>Tree so far: {A, B}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04 / MST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Walkthrough, part 2: keep expanding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6583680" cy="452628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2331720"/>
            <a:ext cx="1965960" cy="548640"/>
          </a:xfrm>
          <a:prstGeom prst="line">
            <a:avLst/>
          </a:prstGeom>
          <a:ln w="3810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47188" y="229514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47188" y="2304287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880360"/>
            <a:ext cx="3840480" cy="4572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84447" y="2574035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84447" y="2583179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2331720"/>
            <a:ext cx="1874520" cy="594360"/>
          </a:xfrm>
          <a:prstGeom prst="line">
            <a:avLst/>
          </a:prstGeom>
          <a:ln w="3810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67428" y="231800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7428" y="232714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94760" y="2331720"/>
            <a:ext cx="45720" cy="2240280"/>
          </a:xfrm>
          <a:prstGeom prst="line">
            <a:avLst/>
          </a:prstGeom>
          <a:ln w="3810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88436" y="332384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88436" y="333298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3840480" y="2926080"/>
            <a:ext cx="1828800" cy="164592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54880" y="362102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363016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2926080"/>
            <a:ext cx="731520" cy="164592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35040" y="362102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0" y="363016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" y="4572000"/>
            <a:ext cx="2560320" cy="0"/>
          </a:xfrm>
          <a:prstGeom prst="line">
            <a:avLst/>
          </a:prstGeom>
          <a:ln w="3810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56048" y="426110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56048" y="427024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840480" y="3657600"/>
            <a:ext cx="2697480" cy="914400"/>
          </a:xfrm>
          <a:prstGeom prst="line">
            <a:avLst/>
          </a:prstGeom>
          <a:ln w="15240">
            <a:solidFill>
              <a:srgbClr val="AEB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189220" y="39867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89220" y="39959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5F8FF"/>
                </a:solidFill>
                <a:latin typeface="Aptos"/>
              </a:rPr>
              <a:t>3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400800" y="3657600"/>
            <a:ext cx="137160" cy="914400"/>
          </a:xfrm>
          <a:prstGeom prst="line">
            <a:avLst/>
          </a:prstGeom>
          <a:ln w="3810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69380" y="39867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9380" y="39959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1</a:t>
            </a:r>
          </a:p>
        </p:txBody>
      </p:sp>
      <p:sp>
        <p:nvSpPr>
          <p:cNvPr id="35" name="Oval 34"/>
          <p:cNvSpPr/>
          <p:nvPr/>
        </p:nvSpPr>
        <p:spPr>
          <a:xfrm>
            <a:off x="1591056" y="2642615"/>
            <a:ext cx="475488" cy="475488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36" name="Oval 35"/>
          <p:cNvSpPr/>
          <p:nvPr/>
        </p:nvSpPr>
        <p:spPr>
          <a:xfrm>
            <a:off x="3557016" y="2093976"/>
            <a:ext cx="475488" cy="475488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5431536" y="2688336"/>
            <a:ext cx="475488" cy="475488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38" name="Oval 37"/>
          <p:cNvSpPr/>
          <p:nvPr/>
        </p:nvSpPr>
        <p:spPr>
          <a:xfrm>
            <a:off x="3602736" y="4334256"/>
            <a:ext cx="475488" cy="475488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39" name="Oval 38"/>
          <p:cNvSpPr/>
          <p:nvPr/>
        </p:nvSpPr>
        <p:spPr>
          <a:xfrm>
            <a:off x="6163056" y="4334256"/>
            <a:ext cx="475488" cy="475488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E</a:t>
            </a:r>
          </a:p>
        </p:txBody>
      </p:sp>
      <p:sp>
        <p:nvSpPr>
          <p:cNvPr id="40" name="Oval 39"/>
          <p:cNvSpPr/>
          <p:nvPr/>
        </p:nvSpPr>
        <p:spPr>
          <a:xfrm>
            <a:off x="6300216" y="3419856"/>
            <a:ext cx="475488" cy="475488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1572768"/>
            <a:ext cx="3931920" cy="452628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1874519"/>
            <a:ext cx="3291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1DCC4"/>
                </a:solidFill>
                <a:latin typeface="Aptos"/>
              </a:rPr>
              <a:t>Continue choosing the lightest safe edge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2487168"/>
            <a:ext cx="3246120" cy="18288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1. B–C = 1</a:t>
            </a:r>
          </a:p>
          <a:p>
            <a:pPr>
              <a:spcAft>
                <a:spcPts val="10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2. B–D = 4</a:t>
            </a:r>
          </a:p>
          <a:p>
            <a:pPr>
              <a:spcAft>
                <a:spcPts val="10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3. D–E = 2</a:t>
            </a:r>
          </a:p>
          <a:p>
            <a:pPr>
              <a:spcAft>
                <a:spcPts val="1000"/>
              </a:spcAft>
              <a:defRPr sz="1500">
                <a:solidFill>
                  <a:srgbClr val="F5F8FF"/>
                </a:solidFill>
                <a:latin typeface="Aptos"/>
              </a:defRPr>
            </a:pPr>
            <a:r>
              <a:t>4. E–F =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63840" y="4800600"/>
            <a:ext cx="3246120" cy="80467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 w="1524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28431" y="4956048"/>
            <a:ext cx="29260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CA57"/>
                </a:solidFill>
                <a:latin typeface="Aptos"/>
              </a:rPr>
              <a:t>5 edges connect all 6 vertices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05 /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Final MST: total weight =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6583680" cy="452628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V="1">
            <a:off x="1828800" y="2331720"/>
            <a:ext cx="1965960" cy="548640"/>
          </a:xfrm>
          <a:prstGeom prst="line">
            <a:avLst/>
          </a:prstGeom>
          <a:ln w="4191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47188" y="229514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47188" y="2304287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94760" y="2331720"/>
            <a:ext cx="1874520" cy="594360"/>
          </a:xfrm>
          <a:prstGeom prst="line">
            <a:avLst/>
          </a:prstGeom>
          <a:ln w="4191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67428" y="2318003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7428" y="232714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94760" y="2331720"/>
            <a:ext cx="45720" cy="2240280"/>
          </a:xfrm>
          <a:prstGeom prst="line">
            <a:avLst/>
          </a:prstGeom>
          <a:ln w="4191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88436" y="332384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88436" y="333298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4572000"/>
            <a:ext cx="2560320" cy="0"/>
          </a:xfrm>
          <a:prstGeom prst="line">
            <a:avLst/>
          </a:prstGeom>
          <a:ln w="4191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956048" y="426110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56048" y="427024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400800" y="3657600"/>
            <a:ext cx="137160" cy="914400"/>
          </a:xfrm>
          <a:prstGeom prst="line">
            <a:avLst/>
          </a:prstGeom>
          <a:ln w="41910">
            <a:solidFill>
              <a:srgbClr val="31D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69380" y="3986784"/>
            <a:ext cx="329184" cy="246888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9380" y="3995928"/>
            <a:ext cx="3291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CA57"/>
                </a:solidFill>
                <a:latin typeface="Aptos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1577340" y="262890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3543300" y="208026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B</a:t>
            </a:r>
          </a:p>
        </p:txBody>
      </p:sp>
      <p:sp>
        <p:nvSpPr>
          <p:cNvPr id="25" name="Oval 24"/>
          <p:cNvSpPr/>
          <p:nvPr/>
        </p:nvSpPr>
        <p:spPr>
          <a:xfrm>
            <a:off x="5417820" y="267462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26" name="Oval 25"/>
          <p:cNvSpPr/>
          <p:nvPr/>
        </p:nvSpPr>
        <p:spPr>
          <a:xfrm>
            <a:off x="3589020" y="432054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27" name="Oval 26"/>
          <p:cNvSpPr/>
          <p:nvPr/>
        </p:nvSpPr>
        <p:spPr>
          <a:xfrm>
            <a:off x="6149340" y="432054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E</a:t>
            </a:r>
          </a:p>
        </p:txBody>
      </p:sp>
      <p:sp>
        <p:nvSpPr>
          <p:cNvPr id="28" name="Oval 27"/>
          <p:cNvSpPr/>
          <p:nvPr/>
        </p:nvSpPr>
        <p:spPr>
          <a:xfrm>
            <a:off x="6286500" y="3406140"/>
            <a:ext cx="502920" cy="502920"/>
          </a:xfrm>
          <a:prstGeom prst="ellipse">
            <a:avLst/>
          </a:prstGeom>
          <a:solidFill>
            <a:srgbClr val="1B2B48"/>
          </a:solidFill>
          <a:ln w="2159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5F8FF"/>
                </a:solidFill>
                <a:latin typeface="Aptos"/>
              </a:rPr>
              <a:t>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1572768"/>
            <a:ext cx="3931920" cy="452628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0" y="1874519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1DCC4"/>
                </a:solidFill>
                <a:latin typeface="Aptos"/>
              </a:rPr>
              <a:t>MST edge 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423160"/>
            <a:ext cx="3154680" cy="22860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A–B = 2</a:t>
            </a:r>
          </a:p>
          <a:p>
            <a:pPr>
              <a:spcAft>
                <a:spcPts val="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B–C = 1</a:t>
            </a:r>
          </a:p>
          <a:p>
            <a:pPr>
              <a:spcAft>
                <a:spcPts val="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B–D = 4</a:t>
            </a:r>
          </a:p>
          <a:p>
            <a:pPr>
              <a:spcAft>
                <a:spcPts val="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D–E = 2</a:t>
            </a:r>
          </a:p>
          <a:p>
            <a:pPr>
              <a:spcAft>
                <a:spcPts val="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E–F =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983480"/>
            <a:ext cx="3246120" cy="685800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 w="1524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28431" y="5102352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CA57"/>
                </a:solidFill>
                <a:latin typeface="Aptos"/>
              </a:rPr>
              <a:t>2 + 1 + 4 + 2 + 1 =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199632"/>
            <a:ext cx="103327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AEBCD3"/>
                </a:solidFill>
                <a:latin typeface="Aptos"/>
              </a:rPr>
              <a:t>For 6 vertices, a spanning tree has exactly 6 − 1 = 5 edges.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06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Algorithm outline (pseudocode)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6903720" cy="452628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35508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1DCC4"/>
                </a:solidFill>
                <a:latin typeface="Consolas"/>
              </a:defRPr>
            </a:pPr>
            <a:r>
              <a:t>PRIM(G, start):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key[v] = ∞ for every vertex v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parent[v] = NIL for every vertex v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key[start] = 0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put all vertices into a min-priority queue</a:t>
            </a:r>
          </a:p>
          <a:p>
            <a:pPr>
              <a:spcAft>
                <a:spcPts val="600"/>
              </a:spcAft>
              <a:defRPr sz="1400">
                <a:solidFill>
                  <a:srgbClr val="31DCC4"/>
                </a:solidFill>
                <a:latin typeface="Consolas"/>
              </a:defRPr>
            </a:pPr>
            <a:r>
              <a:t>    while the queue is not empty: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    u = extract vertex with minimum key</a:t>
            </a:r>
          </a:p>
          <a:p>
            <a:pPr>
              <a:spcAft>
                <a:spcPts val="600"/>
              </a:spcAft>
              <a:defRPr sz="1400">
                <a:solidFill>
                  <a:srgbClr val="31DCC4"/>
                </a:solidFill>
                <a:latin typeface="Consolas"/>
              </a:defRPr>
            </a:pPr>
            <a:r>
              <a:t>        for each neighbour v of u still in queue: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        if weight(u, v) &lt; key[v]: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            parent[v] = u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            key[v] = weight(u, v)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  <a:latin typeface="Consolas"/>
              </a:defRPr>
            </a:pPr>
            <a:r>
              <a:t>    return parent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572768"/>
            <a:ext cx="3566160" cy="452628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11312" y="1874519"/>
            <a:ext cx="29260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1DCC4"/>
                </a:solidFill>
                <a:latin typeface="Aptos"/>
              </a:rPr>
              <a:t>Important details</a:t>
            </a:r>
          </a:p>
        </p:txBody>
      </p:sp>
      <p:sp>
        <p:nvSpPr>
          <p:cNvPr id="11" name="Oval 10"/>
          <p:cNvSpPr/>
          <p:nvPr/>
        </p:nvSpPr>
        <p:spPr>
          <a:xfrm>
            <a:off x="8211312" y="2606040"/>
            <a:ext cx="91440" cy="91440"/>
          </a:xfrm>
          <a:prstGeom prst="ellipse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2487168"/>
            <a:ext cx="267919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key[v] = cheapest known way to connect v to the tree.</a:t>
            </a:r>
          </a:p>
        </p:txBody>
      </p:sp>
      <p:sp>
        <p:nvSpPr>
          <p:cNvPr id="13" name="Oval 12"/>
          <p:cNvSpPr/>
          <p:nvPr/>
        </p:nvSpPr>
        <p:spPr>
          <a:xfrm>
            <a:off x="8211312" y="3639312"/>
            <a:ext cx="91440" cy="91440"/>
          </a:xfrm>
          <a:prstGeom prst="ellipse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40"/>
            <a:ext cx="267919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parent[v] records the chosen connection.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211312" y="4599432"/>
            <a:ext cx="91440" cy="91440"/>
          </a:xfrm>
          <a:prstGeom prst="ellipse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4480560"/>
            <a:ext cx="267919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A min-priority queue helps select the next cheapest vertex.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07 /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Efficiency and when to use Prim's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257800" cy="196596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47088"/>
            <a:ext cx="4480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1DCC4"/>
                </a:solidFill>
                <a:latin typeface="Aptos"/>
              </a:rPr>
              <a:t>Time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480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8FF"/>
                </a:solidFill>
                <a:latin typeface="Aptos"/>
              </a:rPr>
              <a:t>O(E log 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16352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3"/>
                </a:solidFill>
                <a:latin typeface="Aptos"/>
              </a:rPr>
              <a:t>With adjacency lists + a min-priority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212080" cy="1965960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847088"/>
            <a:ext cx="4480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1DCC4"/>
                </a:solidFill>
                <a:latin typeface="Aptos"/>
              </a:rPr>
              <a:t>Alternative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04288"/>
            <a:ext cx="4480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5F8FF"/>
                </a:solidFill>
                <a:latin typeface="Aptos"/>
              </a:rPr>
              <a:t>O(V²)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816352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EBCD3"/>
                </a:solidFill>
                <a:latin typeface="Aptos"/>
              </a:rPr>
              <a:t>With an adjacency matrix / simple array.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22191"/>
            <a:ext cx="10817352" cy="2240280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96512"/>
            <a:ext cx="9875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1DCC4"/>
                </a:solidFill>
                <a:latin typeface="Aptos"/>
              </a:rPr>
              <a:t>Typical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1508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A57"/>
                </a:solidFill>
                <a:latin typeface="Aptos"/>
              </a:rPr>
              <a:t>Networks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617720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Low-cost wiring / links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617720"/>
            <a:ext cx="1508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A57"/>
                </a:solidFill>
                <a:latin typeface="Aptos"/>
              </a:rPr>
              <a:t>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617720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Road or rail connections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76088"/>
            <a:ext cx="1508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A57"/>
                </a:solidFill>
                <a:latin typeface="Aptos"/>
              </a:rPr>
              <a:t>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27608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Power and water 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276088"/>
            <a:ext cx="15087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CA57"/>
                </a:solidFill>
                <a:latin typeface="Aptos"/>
              </a:rPr>
              <a:t>Clustering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5276088"/>
            <a:ext cx="3246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5F8FF"/>
                </a:solidFill>
                <a:latin typeface="Aptos"/>
              </a:rPr>
              <a:t>Build a low-cost connectivity backbone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08 / 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5F8FF"/>
                </a:solidFill>
                <a:latin typeface="Aptos"/>
              </a:rPr>
              <a:t>Remember these five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34440"/>
            <a:ext cx="658368" cy="50292"/>
          </a:xfrm>
          <a:prstGeom prst="rect">
            <a:avLst/>
          </a:prstGeom>
          <a:solidFill>
            <a:srgbClr val="31D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31DCC4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07040" cy="658368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1746504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1DCC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09928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Prim's is greedy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737360"/>
            <a:ext cx="6583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CD3"/>
                </a:solidFill>
                <a:latin typeface="Aptos"/>
              </a:rPr>
              <a:t>It makes the cheapest valid next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41448"/>
            <a:ext cx="10607040" cy="658368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587752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1DCC4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51176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Build one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78608"/>
            <a:ext cx="6583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CD3"/>
                </a:solidFill>
                <a:latin typeface="Aptos"/>
              </a:rPr>
              <a:t>The selected vertices remain connected.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82696"/>
            <a:ext cx="10607040" cy="658368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429000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1DCC4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392424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Avoid cycles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419856"/>
            <a:ext cx="6583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CD3"/>
                </a:solidFill>
                <a:latin typeface="Aptos"/>
              </a:rPr>
              <a:t>Only add an edge to a new vertex.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23944"/>
            <a:ext cx="10607040" cy="658368"/>
          </a:xfrm>
          <a:prstGeom prst="roundRect">
            <a:avLst>
              <a:gd name="adj" fmla="val 12000"/>
            </a:avLst>
          </a:prstGeom>
          <a:solidFill>
            <a:srgbClr val="1B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270248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1DCC4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233672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V − 1 edges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261104"/>
            <a:ext cx="6583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CD3"/>
                </a:solidFill>
                <a:latin typeface="Aptos"/>
              </a:rPr>
              <a:t>A tree with V vertices has V − 1 edges.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65192"/>
            <a:ext cx="10607040" cy="658368"/>
          </a:xfrm>
          <a:prstGeom prst="roundRect">
            <a:avLst>
              <a:gd name="adj" fmla="val 12000"/>
            </a:avLst>
          </a:prstGeom>
          <a:solidFill>
            <a:srgbClr val="14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5111496"/>
            <a:ext cx="594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1DCC4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074920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Minimum total weight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5102352"/>
            <a:ext cx="6583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AEBCD3"/>
                </a:solidFill>
                <a:latin typeface="Aptos"/>
              </a:rPr>
              <a:t>The final tree connects every vertex at minimum cost.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5897880"/>
            <a:ext cx="6492240" cy="438912"/>
          </a:xfrm>
          <a:prstGeom prst="roundRect">
            <a:avLst>
              <a:gd name="adj" fmla="val 12000"/>
            </a:avLst>
          </a:prstGeom>
          <a:solidFill>
            <a:srgbClr val="0B1224"/>
          </a:solidFill>
          <a:ln w="15240">
            <a:solidFill>
              <a:srgbClr val="31D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99232" y="5980176"/>
            <a:ext cx="617220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1DCC4"/>
                </a:solidFill>
                <a:latin typeface="Aptos"/>
              </a:rPr>
              <a:t>PRIM'S ALGORITHM  •  START SMALL, GROW SMART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1067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Pranjal Hedau</cp:lastModifiedBy>
  <cp:revision>2</cp:revision>
  <dcterms:created xsi:type="dcterms:W3CDTF">2013-01-27T09:14:16Z</dcterms:created>
  <dcterms:modified xsi:type="dcterms:W3CDTF">2026-10-12T08:31:09Z</dcterms:modified>
  <cp:category/>
</cp:coreProperties>
</file>